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1463040" cy="64008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73736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Fintech Transaction Analysis &amp;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C9DAF5"/>
                </a:solidFill>
                <a:latin typeface="Calibri"/>
              </a:rPr>
              <a:t>Uncovering Spending Habits, Transaction Friction, and Risk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Sanjay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Fintech Transaction Analysis &amp;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3000">
                <a:solidFill>
                  <a:srgbClr val="0B2545"/>
                </a:solidFill>
                <a:latin typeface="Calibri"/>
              </a:rPr>
              <a:t>Objective: </a:t>
            </a:r>
            <a:r>
              <a:rPr sz="3000">
                <a:solidFill>
                  <a:srgbClr val="1A202C"/>
                </a:solidFill>
                <a:latin typeface="Calibri"/>
              </a:rPr>
              <a:t>Analyze 50K+ personal and retail financial transactions to extract business intelligence.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3000">
                <a:solidFill>
                  <a:srgbClr val="0B2545"/>
                </a:solidFill>
                <a:latin typeface="Calibri"/>
              </a:rPr>
              <a:t>Focus Areas: </a:t>
            </a:r>
            <a:r>
              <a:rPr sz="3000">
                <a:solidFill>
                  <a:srgbClr val="1A202C"/>
                </a:solidFill>
                <a:latin typeface="Calibri"/>
              </a:rPr>
              <a:t>Track spending habits, identify transaction friction, and monitor for fraudulent activity.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3000">
                <a:solidFill>
                  <a:srgbClr val="0B2545"/>
                </a:solidFill>
                <a:latin typeface="Calibri"/>
              </a:rPr>
              <a:t>Outcome: </a:t>
            </a:r>
            <a:r>
              <a:rPr sz="3000">
                <a:solidFill>
                  <a:srgbClr val="1A202C"/>
                </a:solidFill>
                <a:latin typeface="Calibri"/>
              </a:rPr>
              <a:t>Provided a 360-degree view of financial health and operational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Data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Fintech Transaction Analysis &amp;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400">
                <a:solidFill>
                  <a:srgbClr val="0B2545"/>
                </a:solidFill>
                <a:latin typeface="Calibri"/>
              </a:rPr>
              <a:t>Total Records: </a:t>
            </a:r>
            <a:r>
              <a:rPr sz="2400">
                <a:solidFill>
                  <a:srgbClr val="1A202C"/>
                </a:solidFill>
                <a:latin typeface="Calibri"/>
              </a:rPr>
              <a:t>50,069 transactions processed.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400">
                <a:solidFill>
                  <a:srgbClr val="0B2545"/>
                </a:solidFill>
                <a:latin typeface="Calibri"/>
              </a:rPr>
              <a:t>Total Value: </a:t>
            </a:r>
            <a:r>
              <a:rPr sz="2400">
                <a:solidFill>
                  <a:srgbClr val="1A202C"/>
                </a:solidFill>
                <a:latin typeface="Calibri"/>
              </a:rPr>
              <a:t>₹456.14 Million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400">
                <a:solidFill>
                  <a:srgbClr val="0B2545"/>
                </a:solidFill>
                <a:latin typeface="Calibri"/>
              </a:rPr>
              <a:t>Average Transaction: </a:t>
            </a:r>
            <a:r>
              <a:rPr sz="2400">
                <a:solidFill>
                  <a:srgbClr val="1A202C"/>
                </a:solidFill>
                <a:latin typeface="Calibri"/>
              </a:rPr>
              <a:t>₹9,110.26 (Median: ₹5,002.79)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400">
                <a:solidFill>
                  <a:srgbClr val="0B2545"/>
                </a:solidFill>
                <a:latin typeface="Calibri"/>
              </a:rPr>
              <a:t>Transaction Range: </a:t>
            </a:r>
            <a:r>
              <a:rPr sz="2400">
                <a:solidFill>
                  <a:srgbClr val="1A202C"/>
                </a:solidFill>
                <a:latin typeface="Calibri"/>
              </a:rPr>
              <a:t>-₹21,449.31 to ₹312,586.25 (Note: Negative values represent refunds/chargebacks).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645920"/>
            <a:ext cx="3749039" cy="1325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645920"/>
            <a:ext cx="91440" cy="132588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737360"/>
            <a:ext cx="3428999" cy="72923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1F5FBF"/>
                </a:solidFill>
                <a:latin typeface="Calibri"/>
              </a:rPr>
              <a:t>50,069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414930"/>
            <a:ext cx="3428999" cy="5038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Transactions processed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200400"/>
            <a:ext cx="3749039" cy="1325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3200400"/>
            <a:ext cx="91440" cy="132588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291840"/>
            <a:ext cx="3428999" cy="72923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1F5FBF"/>
                </a:solidFill>
                <a:latin typeface="Calibri"/>
              </a:rPr>
              <a:t>₹456.14M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969410"/>
            <a:ext cx="3428999" cy="5038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Total transaction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754880"/>
            <a:ext cx="3749039" cy="13258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4754880"/>
            <a:ext cx="91440" cy="132588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846320"/>
            <a:ext cx="3428999" cy="72923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1F5FBF"/>
                </a:solidFill>
                <a:latin typeface="Calibri"/>
              </a:rPr>
              <a:t>₹5,002.79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5523890"/>
            <a:ext cx="3428999" cy="50383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Median transaction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Core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Fintech Transaction Analysis &amp;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400">
                <a:solidFill>
                  <a:srgbClr val="0B2545"/>
                </a:solidFill>
                <a:latin typeface="Calibri"/>
              </a:rPr>
              <a:t>Success Rate: </a:t>
            </a:r>
            <a:r>
              <a:rPr sz="2400">
                <a:solidFill>
                  <a:srgbClr val="1A202C"/>
                </a:solidFill>
                <a:latin typeface="Calibri"/>
              </a:rPr>
              <a:t>85.74% (42,930 successful transactions)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400">
                <a:solidFill>
                  <a:srgbClr val="0B2545"/>
                </a:solidFill>
                <a:latin typeface="Calibri"/>
              </a:rPr>
              <a:t>Friction Metrics: </a:t>
            </a:r>
            <a:r>
              <a:rPr sz="2400">
                <a:solidFill>
                  <a:srgbClr val="1A202C"/>
                </a:solidFill>
                <a:latin typeface="Calibri"/>
              </a:rPr>
              <a:t>5,103 failed (10.1%) and 2,036 pending (4.0%)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400">
                <a:solidFill>
                  <a:srgbClr val="0B2545"/>
                </a:solidFill>
                <a:latin typeface="Calibri"/>
              </a:rPr>
              <a:t>Fraud Rate: </a:t>
            </a:r>
            <a:r>
              <a:rPr sz="2400">
                <a:solidFill>
                  <a:srgbClr val="1A202C"/>
                </a:solidFill>
                <a:latin typeface="Calibri"/>
              </a:rPr>
              <a:t>1.26% (632 transactions flagged as fraudulent)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400">
                <a:solidFill>
                  <a:srgbClr val="0B2545"/>
                </a:solidFill>
                <a:latin typeface="Calibri"/>
              </a:rPr>
              <a:t>Platform Revenue: </a:t>
            </a:r>
            <a:r>
              <a:rPr sz="2400">
                <a:solidFill>
                  <a:srgbClr val="1A202C"/>
                </a:solidFill>
                <a:latin typeface="Calibri"/>
              </a:rPr>
              <a:t>₹858,046 total collected (Fees: ₹727,094 | Taxes: ₹130,952)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45920"/>
            <a:ext cx="201168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645920"/>
            <a:ext cx="91440" cy="201168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37360"/>
            <a:ext cx="1691640" cy="11064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1E8E4E"/>
                </a:solidFill>
                <a:latin typeface="Calibri"/>
              </a:rPr>
              <a:t>85.74%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812694"/>
            <a:ext cx="1691640" cy="76443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Success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1645920"/>
            <a:ext cx="201168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29800" y="1645920"/>
            <a:ext cx="91440" cy="2011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737360"/>
            <a:ext cx="1691640" cy="11064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C62828"/>
                </a:solidFill>
                <a:latin typeface="Calibri"/>
              </a:rPr>
              <a:t>10.1%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812694"/>
            <a:ext cx="1691640" cy="76443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Failed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886200"/>
            <a:ext cx="201168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3886200"/>
            <a:ext cx="91440" cy="2011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977639"/>
            <a:ext cx="1691640" cy="11064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C62828"/>
                </a:solidFill>
                <a:latin typeface="Calibri"/>
              </a:rPr>
              <a:t>1.26%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052974"/>
            <a:ext cx="1691640" cy="76443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Fraud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3886200"/>
            <a:ext cx="2011680" cy="201168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29800" y="3886200"/>
            <a:ext cx="91440" cy="201168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3977639"/>
            <a:ext cx="1691640" cy="11064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>
                <a:solidFill>
                  <a:srgbClr val="1F5FBF"/>
                </a:solidFill>
                <a:latin typeface="Calibri"/>
              </a:rPr>
              <a:t>₹858K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5052974"/>
            <a:ext cx="1691640" cy="76443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77D"/>
                </a:solidFill>
                <a:latin typeface="Calibri"/>
              </a:rPr>
              <a:t>Platform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What the Data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Fintech Transaction Analysis &amp;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600">
                <a:solidFill>
                  <a:srgbClr val="0B2545"/>
                </a:solidFill>
                <a:latin typeface="Calibri"/>
              </a:rPr>
              <a:t>Transaction Friction: </a:t>
            </a:r>
            <a:r>
              <a:rPr sz="2600">
                <a:solidFill>
                  <a:srgbClr val="1A202C"/>
                </a:solidFill>
                <a:latin typeface="Calibri"/>
              </a:rPr>
              <a:t>Over 5,100 failures represent significant friction in the customer journey and lost volume.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600">
                <a:solidFill>
                  <a:srgbClr val="0B2545"/>
                </a:solidFill>
                <a:latin typeface="Calibri"/>
              </a:rPr>
              <a:t>High-Value Outliers: </a:t>
            </a:r>
            <a:r>
              <a:rPr sz="2600">
                <a:solidFill>
                  <a:srgbClr val="1A202C"/>
                </a:solidFill>
                <a:latin typeface="Calibri"/>
              </a:rPr>
              <a:t>Overall fraud rate is low (1.26%), but maximum transaction values reach over ₹312K, indicating severe outlier risk compared to the median.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600">
                <a:solidFill>
                  <a:srgbClr val="0B2545"/>
                </a:solidFill>
                <a:latin typeface="Calibri"/>
              </a:rPr>
              <a:t>Merchant Trends: </a:t>
            </a:r>
            <a:r>
              <a:rPr sz="2600">
                <a:solidFill>
                  <a:srgbClr val="1A202C"/>
                </a:solidFill>
                <a:latin typeface="Calibri"/>
              </a:rPr>
              <a:t>Primary spending consistently occurs in Rent, Salary, Groceries, and Insurance.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600">
                <a:solidFill>
                  <a:srgbClr val="0B2545"/>
                </a:solidFill>
                <a:latin typeface="Calibri"/>
              </a:rPr>
              <a:t>Data Anomalies: </a:t>
            </a:r>
            <a:r>
              <a:rPr sz="2600">
                <a:solidFill>
                  <a:srgbClr val="1A202C"/>
                </a:solidFill>
                <a:latin typeface="Calibri"/>
              </a:rPr>
              <a:t>Typographical inconsistencies (e.g., “M@bile App”) were found in the transaction channels.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Actionable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Fintech Transaction Analysis &amp;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600">
                <a:solidFill>
                  <a:srgbClr val="0B2545"/>
                </a:solidFill>
                <a:latin typeface="Calibri"/>
              </a:rPr>
              <a:t>Investigate Failures: </a:t>
            </a:r>
            <a:r>
              <a:rPr sz="2600">
                <a:solidFill>
                  <a:srgbClr val="1A202C"/>
                </a:solidFill>
                <a:latin typeface="Calibri"/>
              </a:rPr>
              <a:t>Pinpoint root causes for failures in high-volume channels (UPI, POS, Auto Debit).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600">
                <a:solidFill>
                  <a:srgbClr val="0B2545"/>
                </a:solidFill>
                <a:latin typeface="Calibri"/>
              </a:rPr>
              <a:t>Dynamic Risk Thresholds: </a:t>
            </a:r>
            <a:r>
              <a:rPr sz="2600">
                <a:solidFill>
                  <a:srgbClr val="1A202C"/>
                </a:solidFill>
                <a:latin typeface="Calibri"/>
              </a:rPr>
              <a:t>Set automated alerts for high-value outliers and large chargebacks for manual review.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600">
                <a:solidFill>
                  <a:srgbClr val="0B2545"/>
                </a:solidFill>
                <a:latin typeface="Calibri"/>
              </a:rPr>
              <a:t>Enhance Data Quality: </a:t>
            </a:r>
            <a:r>
              <a:rPr sz="2600">
                <a:solidFill>
                  <a:srgbClr val="1A202C"/>
                </a:solidFill>
                <a:latin typeface="Calibri"/>
              </a:rPr>
              <a:t>Standardize data entry pipelines with strict validation to prevent typos.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600">
                <a:solidFill>
                  <a:srgbClr val="0B2545"/>
                </a:solidFill>
                <a:latin typeface="Calibri"/>
              </a:rPr>
              <a:t>Targeted Marketing: </a:t>
            </a:r>
            <a:r>
              <a:rPr sz="2600">
                <a:solidFill>
                  <a:srgbClr val="1A202C"/>
                </a:solidFill>
                <a:latin typeface="Calibri"/>
              </a:rPr>
              <a:t>Leverage insights from top merchant categories to launch customized cashback campaigns.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A677D"/>
                </a:solidFill>
                <a:latin typeface="Calibri"/>
              </a:rPr>
              <a:t>Fintech Transaction Analysis &amp;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A677D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800">
                <a:solidFill>
                  <a:srgbClr val="0B2545"/>
                </a:solidFill>
                <a:latin typeface="Calibri"/>
              </a:rPr>
              <a:t>Interactive Dashboard: </a:t>
            </a:r>
            <a:r>
              <a:rPr sz="2800">
                <a:solidFill>
                  <a:srgbClr val="1A202C"/>
                </a:solidFill>
                <a:latin typeface="Calibri"/>
              </a:rPr>
              <a:t>[Insert Link to Power BI]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b="1" sz="2800">
                <a:solidFill>
                  <a:srgbClr val="0B2545"/>
                </a:solidFill>
                <a:latin typeface="Calibri"/>
              </a:rPr>
              <a:t>Full Analysis &amp; Code: </a:t>
            </a:r>
            <a:r>
              <a:rPr sz="2800">
                <a:solidFill>
                  <a:srgbClr val="1A202C"/>
                </a:solidFill>
                <a:latin typeface="Calibri"/>
              </a:rPr>
              <a:t>GitHub Repository - @Sanjay2422</a:t>
            </a:r>
          </a:p>
          <a:p>
            <a:pPr marL="342900" indent="-342900">
              <a:spcAft>
                <a:spcPts val="2200"/>
              </a:spcAft>
              <a:buClr>
                <a:srgbClr val="1F5FBF"/>
              </a:buClr>
              <a:buFont typeface="Arial"/>
              <a:buChar char="■"/>
            </a:pPr>
            <a:r>
              <a:rPr sz="2800">
                <a:solidFill>
                  <a:srgbClr val="1A202C"/>
                </a:solidFill>
                <a:latin typeface="Calibri"/>
              </a:rPr>
              <a:t>Q&amp;A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937760"/>
            <a:ext cx="91440" cy="1005840"/>
          </a:xfrm>
          <a:prstGeom prst="rect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100584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Thank you — Sanjay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